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371600"/>
            <a:ext cx="5486400" cy="5486400"/>
          </a:xfrm>
          <a:prstGeom prst="ellipse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D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ninass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56032"/>
            <a:ext cx="1691640" cy="1216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0515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UNINASSAU · TRABALHO DE EXTENSÃO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Cambria"/>
              </a:rPr>
              <a:t>Verde Urbano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97BC62"/>
                </a:solidFill>
                <a:latin typeface="Calibri"/>
              </a:rPr>
              <a:t>Mapear. Apoiar. Plantar.
Juntos por uma Teresina mais verde.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7BC62"/>
                </a:solidFill>
                <a:latin typeface="Calibri"/>
              </a:rPr>
              <a:t>Yuri Medeiros Bandeira — 01693923
Emanuel Da Silva Oliveira — 01679028
Isaac Soares Almeida — 01694978
Andressa Vitória dos Santos Gualter — 01701260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7BC62"/>
                </a:solidFill>
                <a:latin typeface="Calibri"/>
              </a:rPr>
              <a:t>Teresina/PI  ·  vu-teresina.vercel.app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8A58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3D28"/>
                </a:solidFill>
                <a:latin typeface="Cambria"/>
              </a:rPr>
              <a:t>Teresina precisa de sombra.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Uma das capitais mais quentes do Brasil — com pouca cobertura arbórea, praças degradadas e terrenos baldios sem canal estruturado de registro.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3200400"/>
          </a:xfrm>
          <a:prstGeom prst="round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1A5C3A"/>
                </a:solidFill>
                <a:latin typeface="Cambria"/>
              </a:rPr>
              <a:t>14,6%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copa média
na área urbana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77440"/>
            <a:ext cx="3474720" cy="3200400"/>
          </a:xfrm>
          <a:prstGeom prst="round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3464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C44B2F"/>
                </a:solidFill>
                <a:latin typeface="Cambria"/>
              </a:rPr>
              <a:t>46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1148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temperatura
do chão na seca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377440"/>
            <a:ext cx="3474720" cy="3200400"/>
          </a:xfrm>
          <a:prstGeom prst="round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283464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0F3D28"/>
                </a:solidFill>
                <a:latin typeface="Cambria"/>
              </a:rPr>
              <a:t>491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41148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quadras críticas
sem sombra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Fonte: ESA WorldCover + Landsat 8/9 · 1.884 hexágonos H3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8A58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3D28"/>
                </a:solidFill>
                <a:latin typeface="Cambria"/>
              </a:rPr>
              <a:t>O que o MVP precisa validar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20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74520"/>
            <a:ext cx="411480" cy="411480"/>
          </a:xfrm>
          <a:prstGeom prst="ellipse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74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3D28"/>
                </a:solidFill>
                <a:latin typeface="Cambria"/>
              </a:rPr>
              <a:t>Mapear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Registrar locais degradados com foto, categoria e GPS.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520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1874520"/>
            <a:ext cx="411480" cy="411480"/>
          </a:xfrm>
          <a:prstGeom prst="ellipse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874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3D28"/>
                </a:solidFill>
                <a:latin typeface="Cambria"/>
              </a:rPr>
              <a:t>Priorizar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146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Mapa de prioridade com dados abertos de satélite.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554480"/>
            <a:ext cx="3520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79" y="1874520"/>
            <a:ext cx="411480" cy="411480"/>
          </a:xfrm>
          <a:prstGeom prst="ellipse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9" y="192024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1874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3D28"/>
                </a:solidFill>
                <a:latin typeface="Cambria"/>
              </a:rPr>
              <a:t>Mobilizar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25146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Apoio coletivo e mutirões voluntários.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40480"/>
            <a:ext cx="3520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160520"/>
            <a:ext cx="411480" cy="411480"/>
          </a:xfrm>
          <a:prstGeom prst="ellipse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160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3D28"/>
                </a:solidFill>
                <a:latin typeface="Cambria"/>
              </a:rPr>
              <a:t>Orientar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Guias SEMAM de espécies e competências dos órgãos.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840480"/>
            <a:ext cx="3520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63440" y="4160520"/>
            <a:ext cx="411480" cy="411480"/>
          </a:xfrm>
          <a:prstGeom prst="ellipse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20624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160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3D28"/>
                </a:solidFill>
                <a:latin typeface="Cambria"/>
              </a:rPr>
              <a:t>Decidir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8006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Painel de gestão com indicadores e GeoJSON.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59" y="3840480"/>
            <a:ext cx="3520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79" y="4160520"/>
            <a:ext cx="411480" cy="411480"/>
          </a:xfrm>
          <a:prstGeom prst="ellipse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9" y="420624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19" y="4160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3D28"/>
                </a:solidFill>
                <a:latin typeface="Cambria"/>
              </a:rPr>
              <a:t>Sustentar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9" y="48006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Infraestrutura a custo zero após o semestre.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8A58"/>
                </a:solidFill>
                <a:latin typeface="Calibri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3D28"/>
                </a:solidFill>
                <a:latin typeface="Cambria"/>
              </a:rPr>
              <a:t>Uma plataforma, três atores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PWA que conecta cidadão, ONG de arborização e poder público para identificar, priorizar e transformar áreas sem vegetação.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520440" cy="3383280"/>
          </a:xfrm>
          <a:prstGeom prst="round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3D28"/>
                </a:solidFill>
                <a:latin typeface="Cambria"/>
              </a:rPr>
              <a:t>Cidadão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2880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Registra pontos, apoia demandas, entra em mutirões e consulta guias.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48840"/>
            <a:ext cx="3520440" cy="338328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65176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/>
              </a:rPr>
              <a:t>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383280"/>
            <a:ext cx="2880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97BC62"/>
                </a:solidFill>
                <a:latin typeface="Calibri"/>
              </a:rPr>
              <a:t>Orienta espécies, organiza plantios e acompanha a revitalização.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148840"/>
            <a:ext cx="3520440" cy="3383280"/>
          </a:xfrm>
          <a:prstGeom prst="round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9" y="265176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3D28"/>
                </a:solidFill>
                <a:latin typeface="Cambria"/>
              </a:rPr>
              <a:t>Gestão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199" y="3383280"/>
            <a:ext cx="2880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Painel com mapa de inteligência, triagem e exportação GeoJSON.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DIFERENCIAL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Onde plantar primeiro</a:t>
            </a:r>
          </a:p>
        </p:txBody>
      </p:sp>
      <p:pic>
        <p:nvPicPr>
          <p:cNvPr id="5" name="Picture 4" descr="map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77240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188720"/>
            <a:ext cx="3337560" cy="512064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5087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8B84A"/>
                </a:solidFill>
                <a:latin typeface="Cambria"/>
              </a:rPr>
              <a:t>1.884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920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7BC62"/>
                </a:solidFill>
                <a:latin typeface="Calibri"/>
              </a:rPr>
              <a:t>hexágonos H3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6517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8B84A"/>
                </a:solidFill>
                <a:latin typeface="Cambria"/>
              </a:rPr>
              <a:t>10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063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7BC62"/>
                </a:solidFill>
                <a:latin typeface="Calibri"/>
              </a:rPr>
              <a:t>resolução satélite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7947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8B84A"/>
                </a:solidFill>
                <a:latin typeface="Cambria"/>
              </a:rPr>
              <a:t>3 lentes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206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7BC62"/>
                </a:solidFill>
                <a:latin typeface="Calibri"/>
              </a:rPr>
              <a:t>Prioridade · Copa · Calor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9377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8B84A"/>
                </a:solidFill>
                <a:latin typeface="Cambria"/>
              </a:rPr>
              <a:t>ESA + USGS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349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7BC62"/>
                </a:solidFill>
                <a:latin typeface="Calibri"/>
              </a:rPr>
              <a:t>dados abertos reais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8A58"/>
                </a:solidFill>
                <a:latin typeface="Calibri"/>
              </a:rPr>
              <a:t>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3D28"/>
                </a:solidFill>
                <a:latin typeface="Cambria"/>
              </a:rPr>
              <a:t>A cara do app</a:t>
            </a:r>
          </a:p>
        </p:txBody>
      </p:sp>
      <p:pic>
        <p:nvPicPr>
          <p:cNvPr id="5" name="Picture 4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3385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8A58"/>
                </a:solidFill>
                <a:latin typeface="Calibri"/>
              </a:rPr>
              <a:t>CIDADÃO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3D28"/>
                </a:solidFill>
                <a:latin typeface="Cambria"/>
              </a:rPr>
              <a:t>Do pedido ao plantio</a:t>
            </a:r>
          </a:p>
        </p:txBody>
      </p:sp>
      <p:pic>
        <p:nvPicPr>
          <p:cNvPr id="5" name="Picture 4" descr="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715000" cy="5349240"/>
          </a:xfrm>
          <a:prstGeom prst="rect">
            <a:avLst/>
          </a:prstGeom>
        </p:spPr>
      </p:pic>
      <p:pic>
        <p:nvPicPr>
          <p:cNvPr id="6" name="Picture 5" descr="mutir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62356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8A58"/>
                </a:solidFill>
                <a:latin typeface="Calibri"/>
              </a:rPr>
              <a:t>ORIENTAÇÃO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3D28"/>
                </a:solidFill>
                <a:latin typeface="Cambria"/>
              </a:rPr>
              <a:t>Guias SEMAM e espécies nativas</a:t>
            </a:r>
          </a:p>
        </p:txBody>
      </p:sp>
      <p:pic>
        <p:nvPicPr>
          <p:cNvPr id="5" name="Picture 4" descr="gu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7635240" cy="5212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143000"/>
            <a:ext cx="347472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630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3D28"/>
                </a:solidFill>
                <a:latin typeface="Cambria"/>
              </a:rPr>
              <a:t>O que o cidadão encontra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3774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→  Espécies nativas / adaptadas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3017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→  Porte e tipo de raiz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57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→  Viveiros municipais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429767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→  Órgãos competentes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9377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→  Fontes oficiais SEMAM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8A58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3D28"/>
                </a:solidFill>
                <a:latin typeface="Cambria"/>
              </a:rPr>
              <a:t>O que entregamos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881360" cy="1051560"/>
          </a:xfrm>
          <a:prstGeom prst="round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502920" cy="50292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459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3D28"/>
                </a:solidFill>
                <a:latin typeface="Cambria"/>
              </a:rPr>
              <a:t>Mapa verde inédito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9339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Prioridade de arborização de Teresina com dados abertos e reprodutíveis.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10881360" cy="1051560"/>
          </a:xfrm>
          <a:prstGeom prst="round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926080"/>
            <a:ext cx="502920" cy="50292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3464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3D28"/>
                </a:solidFill>
                <a:latin typeface="Cambria"/>
              </a:rPr>
              <a:t>App publicado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821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PWA em produção — vu-teresina.vercel.app — instalável no celular.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10881360" cy="1051560"/>
          </a:xfrm>
          <a:prstGeom prst="round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114800"/>
            <a:ext cx="502920" cy="50292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8795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02336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3D28"/>
                </a:solidFill>
                <a:latin typeface="Cambria"/>
              </a:rPr>
              <a:t>Custo 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37083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Next.js, MapLibre, Vercel e dados abertos — sustentável após o semestre.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881360" cy="1051560"/>
          </a:xfrm>
          <a:prstGeom prst="round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303520"/>
            <a:ext cx="502920" cy="50292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37667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21208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3D28"/>
                </a:solidFill>
                <a:latin typeface="Cambria"/>
              </a:rPr>
              <a:t>Hipótese validada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55955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Calibri"/>
              </a:rPr>
              <a:t>Dados + participação cidadã orientam política de arborização urbana.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nass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56032"/>
            <a:ext cx="1691640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7BC62"/>
                </a:solidFill>
                <a:latin typeface="Calibri"/>
              </a:rPr>
              <a:t>OBRIGADO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Mapear. Apoiar. Plantar.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97BC62"/>
                </a:solidFill>
                <a:latin typeface="Calibri"/>
              </a:rPr>
              <a:t>Juntos por uma Teresina mais verde.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0440"/>
            <a:ext cx="5120640" cy="123444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7BC62"/>
                </a:solidFill>
                <a:latin typeface="Calibri"/>
              </a:rPr>
              <a:t>Acesse o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vu-teresina.vercel.app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7BC62"/>
                </a:solidFill>
                <a:latin typeface="Calibri"/>
              </a:rPr>
              <a:t>Yuri Medeiros Bandeira — 01693923  ·  Emanuel Da Silva Oliveira — 01679028
Isaac Soares Almeida — 01694978  ·  Andressa Vitória dos Santos Gualter — 01701260
UNINASSAU · Extensão 2026 · Teresina/PI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